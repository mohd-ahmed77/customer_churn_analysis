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051560"/>
            <a:ext cx="612648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CHURN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1600200"/>
            <a:ext cx="6766560" cy="1508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Euclid"/>
              </a:rPr>
              <a:t>Customer
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10128"/>
            <a:ext cx="59436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Euclid"/>
              </a:rPr>
              <a:t>Turning subscriber behavior into retention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77639"/>
            <a:ext cx="53035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OTT subscription analytics • Executive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5512" y="1307592"/>
            <a:ext cx="3886200" cy="36118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52360" y="1234440"/>
            <a:ext cx="3886200" cy="3611880"/>
          </a:xfrm>
          <a:prstGeom prst="roundRect">
            <a:avLst/>
          </a:prstGeom>
          <a:solidFill>
            <a:srgbClr val="FFE234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1691640"/>
            <a:ext cx="315468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300" b="1">
                <a:solidFill>
                  <a:srgbClr val="1A1A1A"/>
                </a:solidFill>
                <a:latin typeface="Euclid"/>
              </a:rPr>
              <a:t>28.6%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468880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Euclid"/>
              </a:rPr>
              <a:t>OVERALL CHURN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999232"/>
            <a:ext cx="315468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Euclid"/>
              </a:rPr>
              <a:t>71.4%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584448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Euclid"/>
              </a:rPr>
              <a:t>RETENTION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4187952"/>
            <a:ext cx="2834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By Mohd Ahmed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4498848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Data Scientist &amp; 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  <p:sp>
        <p:nvSpPr>
          <p:cNvPr id="38" name="Oval 37"/>
          <p:cNvSpPr/>
          <p:nvPr/>
        </p:nvSpPr>
        <p:spPr>
          <a:xfrm>
            <a:off x="9281160" y="4983480"/>
            <a:ext cx="1554480" cy="155448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_portrai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074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The business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Retention is the core growth lever in a hyper-competitive OTT market.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481328"/>
            <a:ext cx="182880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513332"/>
            <a:ext cx="160934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BUSINESS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1938528"/>
            <a:ext cx="6583680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Who is at risk, why are they leaving,
and when is the danger zone?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73552"/>
            <a:ext cx="62636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Euclid"/>
              </a:rPr>
              <a:t>The analysis combines customer demographics, subscription structure and support signals to identify high-risk subscribers.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34072" y="1645920"/>
            <a:ext cx="4069080" cy="102412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60920" y="1572768"/>
            <a:ext cx="4069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1755648"/>
            <a:ext cx="475488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E234"/>
                </a:solidFill>
                <a:latin typeface="Euclid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1728216"/>
            <a:ext cx="914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Euclid"/>
              </a:rPr>
              <a:t>WHO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1719072"/>
            <a:ext cx="2148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Identify customers who left or may leave.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34072" y="2999232"/>
            <a:ext cx="4069080" cy="102412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60920" y="2926080"/>
            <a:ext cx="4069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1" y="3108960"/>
            <a:ext cx="475488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E234"/>
                </a:solidFill>
                <a:latin typeface="Eucli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2" y="3081528"/>
            <a:ext cx="914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Euclid"/>
              </a:rPr>
              <a:t>WHY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072384"/>
            <a:ext cx="2148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Understand behavior before cancellation.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34072" y="4352544"/>
            <a:ext cx="4069080" cy="102412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60920" y="4279392"/>
            <a:ext cx="40690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71231" y="4462272"/>
            <a:ext cx="475488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E234"/>
                </a:solidFill>
                <a:latin typeface="Eucli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2" y="4434840"/>
            <a:ext cx="914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Euclid"/>
              </a:rPr>
              <a:t>WHEN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425696"/>
            <a:ext cx="2148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Find the point where churn accelerates.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Data foundation &amp; analytical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Three relational tables feed an end-to-end churn analytics workflow.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581912"/>
            <a:ext cx="3401568" cy="2011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508760"/>
            <a:ext cx="3401568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1719072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db_customer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21396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customerid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2395728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2651760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country /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2907791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gender / DOB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163824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interests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9704" y="1581912"/>
            <a:ext cx="3401568" cy="2011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416552" y="1508760"/>
            <a:ext cx="3401568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1719072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db_subscription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1144" y="21396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customerid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1144" y="2395728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start / renewal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2651760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plan /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144" y="2907791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cancellation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1144" y="3163824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monthly charges / CLTV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84464" y="1581912"/>
            <a:ext cx="3401568" cy="2011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11312" y="1508760"/>
            <a:ext cx="3401568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1719072"/>
            <a:ext cx="29260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db_support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21396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customerid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2395728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complaint 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2651760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escalations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4" y="2907791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CSAT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3163824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969">
                <a:solidFill>
                  <a:srgbClr val="1A1A1A"/>
                </a:solidFill>
                <a:latin typeface="Euclid"/>
              </a:rPr>
              <a:t>comment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3858768"/>
            <a:ext cx="105156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890772"/>
            <a:ext cx="832103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PIPELINE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4944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1792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SQL extraction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9464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496312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33472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Cleaning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3983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70831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07992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19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Feature engineering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18503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245351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20840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EDA + KPIs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93023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119871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57031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59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Visualization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67544" y="4480560"/>
            <a:ext cx="1600200" cy="8686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994392" y="4407408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31552" y="4599432"/>
            <a:ext cx="320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E234"/>
                </a:solidFill>
                <a:latin typeface="Euclid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69880" y="4553712"/>
            <a:ext cx="9601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69" b="1">
                <a:solidFill>
                  <a:srgbClr val="1A1A1A"/>
                </a:solidFill>
                <a:latin typeface="Euclid"/>
              </a:rPr>
              <a:t>Executive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650992"/>
            <a:ext cx="7955279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Euclid"/>
              </a:rPr>
              <a:t>Tech stack: SQL • Python • pandas • numpy • sqlite3 • matplotlib • seaborn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Executive KPI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The portfolio-level picture: churn is material, but the revenue impact is concentrated.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490472"/>
            <a:ext cx="2423160" cy="135331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17320"/>
            <a:ext cx="242316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1417320"/>
            <a:ext cx="91440" cy="13533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1618488"/>
            <a:ext cx="20116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Euclid"/>
              </a:rPr>
              <a:t>28.6%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221992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Churn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00984" y="1490472"/>
            <a:ext cx="2423160" cy="135331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27832" y="1417320"/>
            <a:ext cx="242316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27832" y="1417320"/>
            <a:ext cx="91440" cy="13533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6432" y="1618488"/>
            <a:ext cx="20116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Euclid"/>
              </a:rPr>
              <a:t>71.4%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2221992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Retention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07024" y="1490472"/>
            <a:ext cx="2423160" cy="135331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833872" y="1417320"/>
            <a:ext cx="242316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33872" y="1417320"/>
            <a:ext cx="91440" cy="1353312"/>
          </a:xfrm>
          <a:prstGeom prst="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1618488"/>
            <a:ext cx="20116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Euclid"/>
              </a:rPr>
              <a:t>₹18.8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2221992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ARPU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13064" y="1490472"/>
            <a:ext cx="2423160" cy="1353312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39912" y="1417320"/>
            <a:ext cx="2423160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39912" y="1417320"/>
            <a:ext cx="91440" cy="1353312"/>
          </a:xfrm>
          <a:prstGeom prst="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68512" y="1618488"/>
            <a:ext cx="20116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Euclid"/>
              </a:rPr>
              <a:t>1,451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2221992"/>
            <a:ext cx="2011679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Average tenure (days)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" y="3227832"/>
            <a:ext cx="4983480" cy="2514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792" y="3154680"/>
            <a:ext cx="49834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" y="3383280"/>
            <a:ext cx="2560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Euclid"/>
              </a:rPr>
              <a:t>Churn vs retention</a:t>
            </a:r>
          </a:p>
        </p:txBody>
      </p:sp>
      <p:sp>
        <p:nvSpPr>
          <p:cNvPr id="50" name="Oval 49"/>
          <p:cNvSpPr/>
          <p:nvPr/>
        </p:nvSpPr>
        <p:spPr>
          <a:xfrm>
            <a:off x="1051560" y="3858768"/>
            <a:ext cx="1417320" cy="1417320"/>
          </a:xfrm>
          <a:prstGeom prst="ellipse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25880" y="4133087"/>
            <a:ext cx="868680" cy="868680"/>
          </a:xfrm>
          <a:prstGeom prst="ellipse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5608" y="4389120"/>
            <a:ext cx="658368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Euclid"/>
              </a:rPr>
              <a:t>28.6%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1488" y="3913632"/>
            <a:ext cx="141732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Euclid"/>
              </a:rPr>
              <a:t>CHURN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4233672"/>
            <a:ext cx="196596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Euclid"/>
              </a:rPr>
              <a:t>71.4% retained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61488" y="4617720"/>
            <a:ext cx="224028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Retention remains the majority outcome.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07024" y="3227832"/>
            <a:ext cx="5029200" cy="2514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833872" y="3154680"/>
            <a:ext cx="50292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08192" y="3383280"/>
            <a:ext cx="24688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Euclid"/>
              </a:rPr>
              <a:t>Revenue exposure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867912"/>
            <a:ext cx="1325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Euclid"/>
              </a:rPr>
              <a:t>₹395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4768" y="4389120"/>
            <a:ext cx="15544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Euclid"/>
              </a:rPr>
              <a:t>Total revenue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7" y="3867912"/>
            <a:ext cx="13258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Euclid"/>
              </a:rPr>
              <a:t>₹74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4389120"/>
            <a:ext cx="19659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Euclid"/>
              </a:rPr>
              <a:t>Revenue lost to churn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11512" y="3867912"/>
            <a:ext cx="822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EF4444"/>
                </a:solidFill>
                <a:latin typeface="Euclid"/>
              </a:rPr>
              <a:t>18%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11512" y="4389120"/>
            <a:ext cx="9144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Euclid"/>
              </a:rPr>
              <a:t>Revenue loss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44768" y="4965192"/>
            <a:ext cx="246888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Euclid"/>
              </a:rPr>
              <a:t>CLTV lost: ₹2,047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The strongest churn signal: contract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Monthly subscribers churn dramatically more than annual subscribers.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517904"/>
            <a:ext cx="6812280" cy="4434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44752"/>
            <a:ext cx="68122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1719072"/>
            <a:ext cx="27432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Churn rate by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68296"/>
            <a:ext cx="19659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Monthly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2432304"/>
            <a:ext cx="3474720" cy="493776"/>
          </a:xfrm>
          <a:prstGeom prst="round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80360" y="2432304"/>
            <a:ext cx="3219907" cy="49377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377440"/>
            <a:ext cx="4114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1A1A1A"/>
                </a:solidFill>
                <a:latin typeface="Euclid"/>
              </a:rPr>
              <a:t>55.6%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374136"/>
            <a:ext cx="19659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Annual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3438144"/>
            <a:ext cx="3474720" cy="493776"/>
          </a:xfrm>
          <a:prstGeom prst="round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80360" y="3438144"/>
            <a:ext cx="480669" cy="49377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383280"/>
            <a:ext cx="4114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50" b="1">
                <a:solidFill>
                  <a:srgbClr val="1A1A1A"/>
                </a:solidFill>
                <a:latin typeface="Euclid"/>
              </a:rPr>
              <a:t>8.3%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" y="4489704"/>
            <a:ext cx="5897880" cy="102412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4416552"/>
            <a:ext cx="5897880" cy="1024128"/>
          </a:xfrm>
          <a:prstGeom prst="roundRect">
            <a:avLst/>
          </a:prstGeom>
          <a:solidFill>
            <a:srgbClr val="FFE234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617720"/>
            <a:ext cx="105156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Euclid"/>
              </a:rPr>
              <a:t>6.7×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4608576"/>
            <a:ext cx="33832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Euclid"/>
              </a:rPr>
              <a:t>higher churn for monthly contracts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956048"/>
            <a:ext cx="3474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This is the clearest retention lever in the dataset.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1517904"/>
            <a:ext cx="3675887" cy="4434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99248" y="1444752"/>
            <a:ext cx="3675887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73568" y="1719072"/>
            <a:ext cx="123444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83296" y="1751075"/>
            <a:ext cx="101498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INTERPRETATION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233172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250">
                <a:solidFill>
                  <a:srgbClr val="1A1A1A"/>
                </a:solidFill>
                <a:latin typeface="Euclid"/>
              </a:rPr>
              <a:t>Monthly plans show much higher churn exposure.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3017520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250">
                <a:solidFill>
                  <a:srgbClr val="1A1A1A"/>
                </a:solidFill>
                <a:latin typeface="Euclid"/>
              </a:rPr>
              <a:t>Annual contracts create a stronger retention anchor.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8" y="37033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250">
                <a:solidFill>
                  <a:srgbClr val="1A1A1A"/>
                </a:solidFill>
                <a:latin typeface="Euclid"/>
              </a:rPr>
              <a:t>Prioritize migration from monthly → annual where appropriate.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4617720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250">
                <a:solidFill>
                  <a:srgbClr val="1A1A1A"/>
                </a:solidFill>
                <a:latin typeface="Euclid"/>
              </a:rPr>
              <a:t>Protect high-LTV annual customers from support-driven churn.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Where churn is concentrated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The pattern is concentrated in the Basic plan, September 2024, and Karnataka.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554480"/>
            <a:ext cx="3456432" cy="43434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81328"/>
            <a:ext cx="345643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1755648"/>
            <a:ext cx="77724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787651"/>
            <a:ext cx="55778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2331720"/>
            <a:ext cx="25603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Euclid"/>
              </a:rPr>
              <a:t>Basic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816352"/>
            <a:ext cx="26974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Euclid"/>
              </a:rPr>
              <a:t>Most churn comes from the Basic subscription plan.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931920"/>
            <a:ext cx="269748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Euclid"/>
              </a:rPr>
              <a:t>Revenue impact is described in the source as not being a major revenue concern.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230368"/>
            <a:ext cx="685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5138928"/>
            <a:ext cx="210312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Investigate pricing / product changes before over-investing in broad retention.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3984" y="1554480"/>
            <a:ext cx="3456432" cy="43434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70832" y="1481328"/>
            <a:ext cx="345643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45152" y="1755648"/>
            <a:ext cx="77724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1787651"/>
            <a:ext cx="55778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2331720"/>
            <a:ext cx="25603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Euclid"/>
              </a:rPr>
              <a:t>Sep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2816352"/>
            <a:ext cx="2697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Euclid"/>
              </a:rPr>
              <a:t>Most churn happened during September 2024.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886200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Euclid"/>
              </a:rPr>
              <a:t>Jul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91456" y="4224528"/>
            <a:ext cx="256032" cy="41148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76672" y="3886200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Euclid"/>
              </a:rPr>
              <a:t>Aug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224528"/>
            <a:ext cx="256032" cy="41148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71616" y="3886200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Euclid"/>
              </a:rPr>
              <a:t>Sep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1344" y="3584448"/>
            <a:ext cx="256032" cy="1051560"/>
          </a:xfrm>
          <a:prstGeom prst="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3886200"/>
            <a:ext cx="475488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Euclid"/>
              </a:rPr>
              <a:t>Oct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76288" y="4224528"/>
            <a:ext cx="256032" cy="411480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4956048"/>
            <a:ext cx="26974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Euclid"/>
              </a:rPr>
              <a:t>September should be treated as the investigation window.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74736" y="1554480"/>
            <a:ext cx="3456432" cy="43434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01583" y="1481328"/>
            <a:ext cx="3456432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5904" y="1755648"/>
            <a:ext cx="96012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85632" y="1787651"/>
            <a:ext cx="74066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GEOGRAPHY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2331720"/>
            <a:ext cx="25603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Euclid"/>
              </a:rPr>
              <a:t>Karnataka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75904" y="2816352"/>
            <a:ext cx="2697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Euclid"/>
              </a:rPr>
              <a:t>The most affected state in the reported churn analysis.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75904" y="3840480"/>
            <a:ext cx="10515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INVESTIGATE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5904" y="42062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050">
                <a:solidFill>
                  <a:srgbClr val="1A1A1A"/>
                </a:solidFill>
                <a:latin typeface="Euclid"/>
              </a:rPr>
              <a:t>Price changes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75904" y="4562855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050">
                <a:solidFill>
                  <a:srgbClr val="1A1A1A"/>
                </a:solidFill>
                <a:latin typeface="Euclid"/>
              </a:rPr>
              <a:t>User complaints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5904" y="49194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050">
                <a:solidFill>
                  <a:srgbClr val="1A1A1A"/>
                </a:solidFill>
                <a:latin typeface="Euclid"/>
              </a:rPr>
              <a:t>Technical issues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75904" y="527608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050">
                <a:solidFill>
                  <a:srgbClr val="1A1A1A"/>
                </a:solidFill>
                <a:latin typeface="Euclid"/>
              </a:rPr>
              <a:t>Competitive pressure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Revenue impact &amp; risk prioritization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Not every churned customer is equally valuable — prioritize by LTV and 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517904"/>
            <a:ext cx="4983480" cy="44805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44752"/>
            <a:ext cx="49834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1719072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Financial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2267712"/>
            <a:ext cx="14173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300" b="1">
                <a:solidFill>
                  <a:srgbClr val="EF4444"/>
                </a:solidFill>
                <a:latin typeface="Euclid"/>
              </a:rPr>
              <a:t>₹74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2788920"/>
            <a:ext cx="23317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Revenue loss due to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2267712"/>
            <a:ext cx="16002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Euclid"/>
              </a:rPr>
              <a:t>₹2,047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2788920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CLTV lost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3401568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Euclid"/>
              </a:rPr>
              <a:t>Revenue retained vs lost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3886200"/>
            <a:ext cx="4160520" cy="475488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" y="3886200"/>
            <a:ext cx="748893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416552"/>
            <a:ext cx="10058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Euclid"/>
              </a:rPr>
              <a:t>18% 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416552"/>
            <a:ext cx="132588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Euclid"/>
              </a:rPr>
              <a:t>82% remaining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937760"/>
            <a:ext cx="416052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Risk scoring uses churn score, tenure, plan type and support escalation signals.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07024" y="1517904"/>
            <a:ext cx="5715000" cy="44805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833872" y="1444752"/>
            <a:ext cx="57150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1719072"/>
            <a:ext cx="22860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Euclid"/>
              </a:rPr>
              <a:t>Priority queue</a:t>
            </a:r>
          </a:p>
        </p:txBody>
      </p:sp>
      <p:sp>
        <p:nvSpPr>
          <p:cNvPr id="43" name="Oval 42"/>
          <p:cNvSpPr/>
          <p:nvPr/>
        </p:nvSpPr>
        <p:spPr>
          <a:xfrm>
            <a:off x="6144768" y="2240280"/>
            <a:ext cx="420624" cy="42062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2340864"/>
            <a:ext cx="3108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Euclid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2221992"/>
            <a:ext cx="224028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High-risk + high LTV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2514600"/>
            <a:ext cx="4160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Immediate outreach and issue resolution.</a:t>
            </a:r>
          </a:p>
        </p:txBody>
      </p:sp>
      <p:sp>
        <p:nvSpPr>
          <p:cNvPr id="47" name="Oval 46"/>
          <p:cNvSpPr/>
          <p:nvPr/>
        </p:nvSpPr>
        <p:spPr>
          <a:xfrm>
            <a:off x="6144768" y="2999232"/>
            <a:ext cx="420624" cy="420624"/>
          </a:xfrm>
          <a:prstGeom prst="ellipse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3099816"/>
            <a:ext cx="3108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Euclid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980944"/>
            <a:ext cx="224028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Medium-risk + high LTV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3273552"/>
            <a:ext cx="4160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Proactive retention before escalation.</a:t>
            </a:r>
          </a:p>
        </p:txBody>
      </p:sp>
      <p:sp>
        <p:nvSpPr>
          <p:cNvPr id="51" name="Oval 50"/>
          <p:cNvSpPr/>
          <p:nvPr/>
        </p:nvSpPr>
        <p:spPr>
          <a:xfrm>
            <a:off x="6144768" y="3758184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3858768"/>
            <a:ext cx="3108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Euclid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739896"/>
            <a:ext cx="224028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Monthly → annual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4032504"/>
            <a:ext cx="4160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Use migration offers to reduce churn exposure.</a:t>
            </a:r>
          </a:p>
        </p:txBody>
      </p:sp>
      <p:sp>
        <p:nvSpPr>
          <p:cNvPr id="55" name="Oval 54"/>
          <p:cNvSpPr/>
          <p:nvPr/>
        </p:nvSpPr>
        <p:spPr>
          <a:xfrm>
            <a:off x="6144768" y="451713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9632" y="4617720"/>
            <a:ext cx="3108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Euclid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8272" y="4498848"/>
            <a:ext cx="2240280" cy="2468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Euclid"/>
              </a:rPr>
              <a:t>Basic-plan churn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48272" y="4791455"/>
            <a:ext cx="4160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Diagnose pricing, product and competitive causes.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From insight 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A focused retention roadmap based on the reported findings.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1554480"/>
            <a:ext cx="10972800" cy="9326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" y="1481328"/>
            <a:ext cx="1097280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" y="1682496"/>
            <a:ext cx="640080" cy="347472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1746504"/>
            <a:ext cx="457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Euclid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1645920"/>
            <a:ext cx="2423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Euclid"/>
              </a:rPr>
              <a:t>Investigate Karnataka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1627632"/>
            <a:ext cx="6903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Audit pricing, complaints, technical issues and local competitive moves around Sep 2024.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" y="2724912"/>
            <a:ext cx="10972800" cy="9326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" y="2651760"/>
            <a:ext cx="1097280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536" y="2852928"/>
            <a:ext cx="64008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2916936"/>
            <a:ext cx="457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Euclid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5648" y="2816352"/>
            <a:ext cx="2423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Euclid"/>
              </a:rPr>
              <a:t>Test contract 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2798064"/>
            <a:ext cx="6903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Identify suitable monthly subscribers and test annual-plan migration incentives.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" y="3895344"/>
            <a:ext cx="10972800" cy="9326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" y="3822191"/>
            <a:ext cx="1097280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9536" y="4023359"/>
            <a:ext cx="640080" cy="347472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4087368"/>
            <a:ext cx="457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Euclid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3986783"/>
            <a:ext cx="2423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Euclid"/>
              </a:rPr>
              <a:t>Prioritize by 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968496"/>
            <a:ext cx="6903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Rank High/Medium churn-risk customers by LTV and intervene first where value at risk is highest.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" y="5065776"/>
            <a:ext cx="10972800" cy="93268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1792" y="4992624"/>
            <a:ext cx="1097280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9536" y="5193792"/>
            <a:ext cx="64008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5257800"/>
            <a:ext cx="457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Euclid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5648" y="5157216"/>
            <a:ext cx="2423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Euclid"/>
              </a:rPr>
              <a:t>Close the support 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5138928"/>
            <a:ext cx="6903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Euclid"/>
              </a:rPr>
              <a:t>Connect complaint + escalation + CSAT signals to proactive outreach via email, SMS or calls.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" y="5577840"/>
            <a:ext cx="10972800" cy="65836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1792" y="5504688"/>
            <a:ext cx="10972800" cy="658368"/>
          </a:xfrm>
          <a:prstGeom prst="roundRect">
            <a:avLst/>
          </a:prstGeom>
          <a:solidFill>
            <a:srgbClr val="FFE234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687568"/>
            <a:ext cx="10378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Euclid"/>
              </a:rPr>
              <a:t>Goal → reduce avoidable churn while protecting long-term customer value.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Churn Analysis • Customer Intelligence • Mohd Ahmed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EB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"/>
            <a:ext cx="89611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Euclid"/>
              </a:rPr>
              <a:t>Project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987552"/>
            <a:ext cx="96012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Euclid"/>
              </a:rPr>
              <a:t>Portfolio-ready analytical workflow and business recommendations.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411480"/>
            <a:ext cx="502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A5A5A"/>
                </a:solidFill>
                <a:latin typeface="Euclid"/>
              </a:rPr>
              <a:t>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444752"/>
            <a:ext cx="132588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476756"/>
            <a:ext cx="11064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WHAT WAS BUILT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1874519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300">
                <a:solidFill>
                  <a:srgbClr val="1A1A1A"/>
                </a:solidFill>
                <a:latin typeface="Euclid"/>
              </a:rPr>
              <a:t>End-to-end churn analytics pipeline across three relational tables.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48716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300">
                <a:solidFill>
                  <a:srgbClr val="1A1A1A"/>
                </a:solidFill>
                <a:latin typeface="Euclid"/>
              </a:rPr>
              <a:t>20+ KPIs spanning churn, revenue, tenure, risk and support behavior.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09981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300">
                <a:solidFill>
                  <a:srgbClr val="1A1A1A"/>
                </a:solidFill>
                <a:latin typeface="Euclid"/>
              </a:rPr>
              <a:t>Risk segmentation using subscription and support signals.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712463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Euclid"/>
              </a:defRPr>
            </a:pPr>
            <a:r>
              <a:t>•  </a:t>
            </a:r>
            <a:r>
              <a:rPr sz="1300">
                <a:solidFill>
                  <a:srgbClr val="1A1A1A"/>
                </a:solidFill>
                <a:latin typeface="Euclid"/>
              </a:rPr>
              <a:t>Actionable contract-migration and retention strategy.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1444752"/>
            <a:ext cx="1097280" cy="310896"/>
          </a:xfrm>
          <a:prstGeom prst="roundRect">
            <a:avLst/>
          </a:prstGeom>
          <a:solidFill>
            <a:srgbClr val="FFE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1476756"/>
            <a:ext cx="8778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Euclid"/>
              </a:rPr>
              <a:t>KEY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993392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8" y="1920240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2039112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28.6%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084832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overall churn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19" y="1993392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59367" y="1920240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59" y="2039112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55.6%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2084832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monthly churn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072384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44768" y="2999232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3118104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8.3%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163824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annual churn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19" y="3072384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659367" y="2999232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59" y="3118104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6.7×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19" y="3163824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monthly vs annual gap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151376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44768" y="4078224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59" y="4197096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18%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242816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revenue loss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19" y="4151376"/>
            <a:ext cx="2212848" cy="8412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659367" y="4078224"/>
            <a:ext cx="2212848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59" y="4197096"/>
            <a:ext cx="91440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Euclid"/>
              </a:rPr>
              <a:t>₹2,047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19" y="4242816"/>
            <a:ext cx="10058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CLTV lost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5870448"/>
            <a:ext cx="45720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Euclid"/>
              </a:rPr>
              <a:t>Keep learning n keep growing.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23620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Euclid"/>
              </a:rPr>
              <a:t>Data Analytics Project by Mohd Ahmed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" y="6510528"/>
            <a:ext cx="5669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A5A5A"/>
                </a:solidFill>
                <a:latin typeface="Euclid"/>
              </a:rPr>
              <a:t>Data Analytics Project • Mohd Ahmed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